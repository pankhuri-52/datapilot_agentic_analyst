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A8B9F26-FADD-45BD-BDCC-DC880AF7E700}" v="10" dt="2026-04-03T04:48:34.71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5" d="100"/>
          <a:sy n="95" d="100"/>
        </p:scale>
        <p:origin x="460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ankhuri Trikha" userId="6c20738c73399015" providerId="LiveId" clId="{269E12B7-76CD-436A-B9F5-31677DFC7E33}"/>
    <pc:docChg chg="undo custSel modSld">
      <pc:chgData name="Pankhuri Trikha" userId="6c20738c73399015" providerId="LiveId" clId="{269E12B7-76CD-436A-B9F5-31677DFC7E33}" dt="2026-04-03T04:51:07.399" v="467" actId="478"/>
      <pc:docMkLst>
        <pc:docMk/>
      </pc:docMkLst>
      <pc:sldChg chg="delSp mod">
        <pc:chgData name="Pankhuri Trikha" userId="6c20738c73399015" providerId="LiveId" clId="{269E12B7-76CD-436A-B9F5-31677DFC7E33}" dt="2026-04-02T13:28:40.073" v="0" actId="478"/>
        <pc:sldMkLst>
          <pc:docMk/>
          <pc:sldMk cId="0" sldId="256"/>
        </pc:sldMkLst>
        <pc:spChg chg="del">
          <ac:chgData name="Pankhuri Trikha" userId="6c20738c73399015" providerId="LiveId" clId="{269E12B7-76CD-436A-B9F5-31677DFC7E33}" dt="2026-04-02T13:28:40.073" v="0" actId="478"/>
          <ac:spMkLst>
            <pc:docMk/>
            <pc:sldMk cId="0" sldId="256"/>
            <ac:spMk id="4" creationId="{00000000-0000-0000-0000-000000000000}"/>
          </ac:spMkLst>
        </pc:spChg>
      </pc:sldChg>
      <pc:sldChg chg="addSp delSp modSp mod">
        <pc:chgData name="Pankhuri Trikha" userId="6c20738c73399015" providerId="LiveId" clId="{269E12B7-76CD-436A-B9F5-31677DFC7E33}" dt="2026-04-02T16:58:09.262" v="372" actId="20577"/>
        <pc:sldMkLst>
          <pc:docMk/>
          <pc:sldMk cId="0" sldId="257"/>
        </pc:sldMkLst>
        <pc:spChg chg="mod">
          <ac:chgData name="Pankhuri Trikha" userId="6c20738c73399015" providerId="LiveId" clId="{269E12B7-76CD-436A-B9F5-31677DFC7E33}" dt="2026-04-02T16:57:10.525" v="304" actId="1076"/>
          <ac:spMkLst>
            <pc:docMk/>
            <pc:sldMk cId="0" sldId="257"/>
            <ac:spMk id="2" creationId="{00000000-0000-0000-0000-000000000000}"/>
          </ac:spMkLst>
        </pc:spChg>
        <pc:spChg chg="mod">
          <ac:chgData name="Pankhuri Trikha" userId="6c20738c73399015" providerId="LiveId" clId="{269E12B7-76CD-436A-B9F5-31677DFC7E33}" dt="2026-04-02T13:57:56.478" v="1" actId="14100"/>
          <ac:spMkLst>
            <pc:docMk/>
            <pc:sldMk cId="0" sldId="257"/>
            <ac:spMk id="4" creationId="{00000000-0000-0000-0000-000000000000}"/>
          </ac:spMkLst>
        </pc:spChg>
        <pc:spChg chg="mod">
          <ac:chgData name="Pankhuri Trikha" userId="6c20738c73399015" providerId="LiveId" clId="{269E12B7-76CD-436A-B9F5-31677DFC7E33}" dt="2026-04-02T16:54:28.664" v="287" actId="1076"/>
          <ac:spMkLst>
            <pc:docMk/>
            <pc:sldMk cId="0" sldId="257"/>
            <ac:spMk id="5" creationId="{00000000-0000-0000-0000-000000000000}"/>
          </ac:spMkLst>
        </pc:spChg>
        <pc:spChg chg="mod">
          <ac:chgData name="Pankhuri Trikha" userId="6c20738c73399015" providerId="LiveId" clId="{269E12B7-76CD-436A-B9F5-31677DFC7E33}" dt="2026-04-02T16:54:32.668" v="288" actId="14100"/>
          <ac:spMkLst>
            <pc:docMk/>
            <pc:sldMk cId="0" sldId="257"/>
            <ac:spMk id="6" creationId="{00000000-0000-0000-0000-000000000000}"/>
          </ac:spMkLst>
        </pc:spChg>
        <pc:spChg chg="mod">
          <ac:chgData name="Pankhuri Trikha" userId="6c20738c73399015" providerId="LiveId" clId="{269E12B7-76CD-436A-B9F5-31677DFC7E33}" dt="2026-04-02T16:54:22.517" v="286" actId="14100"/>
          <ac:spMkLst>
            <pc:docMk/>
            <pc:sldMk cId="0" sldId="257"/>
            <ac:spMk id="8" creationId="{00000000-0000-0000-0000-000000000000}"/>
          </ac:spMkLst>
        </pc:spChg>
        <pc:spChg chg="mod">
          <ac:chgData name="Pankhuri Trikha" userId="6c20738c73399015" providerId="LiveId" clId="{269E12B7-76CD-436A-B9F5-31677DFC7E33}" dt="2026-04-02T16:54:38.314" v="289" actId="1076"/>
          <ac:spMkLst>
            <pc:docMk/>
            <pc:sldMk cId="0" sldId="257"/>
            <ac:spMk id="9" creationId="{00000000-0000-0000-0000-000000000000}"/>
          </ac:spMkLst>
        </pc:spChg>
        <pc:spChg chg="mod">
          <ac:chgData name="Pankhuri Trikha" userId="6c20738c73399015" providerId="LiveId" clId="{269E12B7-76CD-436A-B9F5-31677DFC7E33}" dt="2026-04-02T16:54:55.528" v="290" actId="14100"/>
          <ac:spMkLst>
            <pc:docMk/>
            <pc:sldMk cId="0" sldId="257"/>
            <ac:spMk id="10" creationId="{00000000-0000-0000-0000-000000000000}"/>
          </ac:spMkLst>
        </pc:spChg>
        <pc:spChg chg="mod">
          <ac:chgData name="Pankhuri Trikha" userId="6c20738c73399015" providerId="LiveId" clId="{269E12B7-76CD-436A-B9F5-31677DFC7E33}" dt="2026-04-02T16:55:00.566" v="291" actId="1076"/>
          <ac:spMkLst>
            <pc:docMk/>
            <pc:sldMk cId="0" sldId="257"/>
            <ac:spMk id="11" creationId="{00000000-0000-0000-0000-000000000000}"/>
          </ac:spMkLst>
        </pc:spChg>
        <pc:spChg chg="mod">
          <ac:chgData name="Pankhuri Trikha" userId="6c20738c73399015" providerId="LiveId" clId="{269E12B7-76CD-436A-B9F5-31677DFC7E33}" dt="2026-04-02T16:55:06.161" v="292" actId="14100"/>
          <ac:spMkLst>
            <pc:docMk/>
            <pc:sldMk cId="0" sldId="257"/>
            <ac:spMk id="12" creationId="{00000000-0000-0000-0000-000000000000}"/>
          </ac:spMkLst>
        </pc:spChg>
        <pc:spChg chg="add mod">
          <ac:chgData name="Pankhuri Trikha" userId="6c20738c73399015" providerId="LiveId" clId="{269E12B7-76CD-436A-B9F5-31677DFC7E33}" dt="2026-04-02T16:55:45.076" v="294" actId="1076"/>
          <ac:spMkLst>
            <pc:docMk/>
            <pc:sldMk cId="0" sldId="257"/>
            <ac:spMk id="28" creationId="{CE49B4A1-D391-17BB-F6C5-95B563CC5A6D}"/>
          </ac:spMkLst>
        </pc:spChg>
        <pc:spChg chg="add del mod">
          <ac:chgData name="Pankhuri Trikha" userId="6c20738c73399015" providerId="LiveId" clId="{269E12B7-76CD-436A-B9F5-31677DFC7E33}" dt="2026-04-02T16:55:54.953" v="296" actId="478"/>
          <ac:spMkLst>
            <pc:docMk/>
            <pc:sldMk cId="0" sldId="257"/>
            <ac:spMk id="29" creationId="{60D5F30C-D1B0-8F13-49B7-332C64A5F042}"/>
          </ac:spMkLst>
        </pc:spChg>
        <pc:spChg chg="add del mod">
          <ac:chgData name="Pankhuri Trikha" userId="6c20738c73399015" providerId="LiveId" clId="{269E12B7-76CD-436A-B9F5-31677DFC7E33}" dt="2026-04-02T16:56:07.629" v="299" actId="478"/>
          <ac:spMkLst>
            <pc:docMk/>
            <pc:sldMk cId="0" sldId="257"/>
            <ac:spMk id="30" creationId="{41EB5CCF-18CD-E6B5-3AD6-59E18D1C8437}"/>
          </ac:spMkLst>
        </pc:spChg>
        <pc:spChg chg="add del mod">
          <ac:chgData name="Pankhuri Trikha" userId="6c20738c73399015" providerId="LiveId" clId="{269E12B7-76CD-436A-B9F5-31677DFC7E33}" dt="2026-04-02T16:56:45.307" v="301" actId="478"/>
          <ac:spMkLst>
            <pc:docMk/>
            <pc:sldMk cId="0" sldId="257"/>
            <ac:spMk id="31" creationId="{9CCCBC80-2678-EABD-6E41-95021B024D74}"/>
          </ac:spMkLst>
        </pc:spChg>
        <pc:spChg chg="add del mod">
          <ac:chgData name="Pankhuri Trikha" userId="6c20738c73399015" providerId="LiveId" clId="{269E12B7-76CD-436A-B9F5-31677DFC7E33}" dt="2026-04-02T16:57:34.051" v="309" actId="478"/>
          <ac:spMkLst>
            <pc:docMk/>
            <pc:sldMk cId="0" sldId="257"/>
            <ac:spMk id="32" creationId="{0D7585C9-AEFD-E4A6-C5C3-125F7209B6E2}"/>
          </ac:spMkLst>
        </pc:spChg>
        <pc:spChg chg="add mod">
          <ac:chgData name="Pankhuri Trikha" userId="6c20738c73399015" providerId="LiveId" clId="{269E12B7-76CD-436A-B9F5-31677DFC7E33}" dt="2026-04-02T16:58:09.262" v="372" actId="20577"/>
          <ac:spMkLst>
            <pc:docMk/>
            <pc:sldMk cId="0" sldId="257"/>
            <ac:spMk id="33" creationId="{CD1DC683-4AF4-4D5F-3B2F-A21DDB747BA6}"/>
          </ac:spMkLst>
        </pc:spChg>
      </pc:sldChg>
      <pc:sldChg chg="modSp mod">
        <pc:chgData name="Pankhuri Trikha" userId="6c20738c73399015" providerId="LiveId" clId="{269E12B7-76CD-436A-B9F5-31677DFC7E33}" dt="2026-04-03T04:48:54.293" v="465" actId="20577"/>
        <pc:sldMkLst>
          <pc:docMk/>
          <pc:sldMk cId="0" sldId="259"/>
        </pc:sldMkLst>
        <pc:spChg chg="mod">
          <ac:chgData name="Pankhuri Trikha" userId="6c20738c73399015" providerId="LiveId" clId="{269E12B7-76CD-436A-B9F5-31677DFC7E33}" dt="2026-04-03T04:48:54.293" v="465" actId="20577"/>
          <ac:spMkLst>
            <pc:docMk/>
            <pc:sldMk cId="0" sldId="259"/>
            <ac:spMk id="7" creationId="{00000000-0000-0000-0000-000000000000}"/>
          </ac:spMkLst>
        </pc:spChg>
      </pc:sldChg>
      <pc:sldChg chg="modSp mod">
        <pc:chgData name="Pankhuri Trikha" userId="6c20738c73399015" providerId="LiveId" clId="{269E12B7-76CD-436A-B9F5-31677DFC7E33}" dt="2026-04-03T03:36:45.592" v="461" actId="20577"/>
        <pc:sldMkLst>
          <pc:docMk/>
          <pc:sldMk cId="0" sldId="261"/>
        </pc:sldMkLst>
        <pc:spChg chg="mod">
          <ac:chgData name="Pankhuri Trikha" userId="6c20738c73399015" providerId="LiveId" clId="{269E12B7-76CD-436A-B9F5-31677DFC7E33}" dt="2026-04-02T14:33:50.670" v="14" actId="5793"/>
          <ac:spMkLst>
            <pc:docMk/>
            <pc:sldMk cId="0" sldId="261"/>
            <ac:spMk id="11" creationId="{00000000-0000-0000-0000-000000000000}"/>
          </ac:spMkLst>
        </pc:spChg>
        <pc:spChg chg="mod">
          <ac:chgData name="Pankhuri Trikha" userId="6c20738c73399015" providerId="LiveId" clId="{269E12B7-76CD-436A-B9F5-31677DFC7E33}" dt="2026-04-02T14:34:12.978" v="18" actId="14100"/>
          <ac:spMkLst>
            <pc:docMk/>
            <pc:sldMk cId="0" sldId="261"/>
            <ac:spMk id="12" creationId="{00000000-0000-0000-0000-000000000000}"/>
          </ac:spMkLst>
        </pc:spChg>
        <pc:spChg chg="mod">
          <ac:chgData name="Pankhuri Trikha" userId="6c20738c73399015" providerId="LiveId" clId="{269E12B7-76CD-436A-B9F5-31677DFC7E33}" dt="2026-04-02T14:34:46.585" v="24" actId="20577"/>
          <ac:spMkLst>
            <pc:docMk/>
            <pc:sldMk cId="0" sldId="261"/>
            <ac:spMk id="16" creationId="{00000000-0000-0000-0000-000000000000}"/>
          </ac:spMkLst>
        </pc:spChg>
        <pc:spChg chg="mod">
          <ac:chgData name="Pankhuri Trikha" userId="6c20738c73399015" providerId="LiveId" clId="{269E12B7-76CD-436A-B9F5-31677DFC7E33}" dt="2026-04-02T14:35:04.780" v="29" actId="20577"/>
          <ac:spMkLst>
            <pc:docMk/>
            <pc:sldMk cId="0" sldId="261"/>
            <ac:spMk id="17" creationId="{00000000-0000-0000-0000-000000000000}"/>
          </ac:spMkLst>
        </pc:spChg>
        <pc:spChg chg="mod">
          <ac:chgData name="Pankhuri Trikha" userId="6c20738c73399015" providerId="LiveId" clId="{269E12B7-76CD-436A-B9F5-31677DFC7E33}" dt="2026-04-02T14:35:53.177" v="31" actId="14100"/>
          <ac:spMkLst>
            <pc:docMk/>
            <pc:sldMk cId="0" sldId="261"/>
            <ac:spMk id="18" creationId="{00000000-0000-0000-0000-000000000000}"/>
          </ac:spMkLst>
        </pc:spChg>
        <pc:spChg chg="mod">
          <ac:chgData name="Pankhuri Trikha" userId="6c20738c73399015" providerId="LiveId" clId="{269E12B7-76CD-436A-B9F5-31677DFC7E33}" dt="2026-04-02T14:35:59.767" v="33" actId="14100"/>
          <ac:spMkLst>
            <pc:docMk/>
            <pc:sldMk cId="0" sldId="261"/>
            <ac:spMk id="19" creationId="{00000000-0000-0000-0000-000000000000}"/>
          </ac:spMkLst>
        </pc:spChg>
        <pc:spChg chg="mod">
          <ac:chgData name="Pankhuri Trikha" userId="6c20738c73399015" providerId="LiveId" clId="{269E12B7-76CD-436A-B9F5-31677DFC7E33}" dt="2026-04-02T14:37:20.074" v="35" actId="14100"/>
          <ac:spMkLst>
            <pc:docMk/>
            <pc:sldMk cId="0" sldId="261"/>
            <ac:spMk id="20" creationId="{00000000-0000-0000-0000-000000000000}"/>
          </ac:spMkLst>
        </pc:spChg>
        <pc:spChg chg="mod">
          <ac:chgData name="Pankhuri Trikha" userId="6c20738c73399015" providerId="LiveId" clId="{269E12B7-76CD-436A-B9F5-31677DFC7E33}" dt="2026-04-02T14:37:35.847" v="38" actId="14100"/>
          <ac:spMkLst>
            <pc:docMk/>
            <pc:sldMk cId="0" sldId="261"/>
            <ac:spMk id="21" creationId="{00000000-0000-0000-0000-000000000000}"/>
          </ac:spMkLst>
        </pc:spChg>
        <pc:spChg chg="mod">
          <ac:chgData name="Pankhuri Trikha" userId="6c20738c73399015" providerId="LiveId" clId="{269E12B7-76CD-436A-B9F5-31677DFC7E33}" dt="2026-04-02T14:37:41.797" v="40" actId="14100"/>
          <ac:spMkLst>
            <pc:docMk/>
            <pc:sldMk cId="0" sldId="261"/>
            <ac:spMk id="22" creationId="{00000000-0000-0000-0000-000000000000}"/>
          </ac:spMkLst>
        </pc:spChg>
        <pc:spChg chg="mod">
          <ac:chgData name="Pankhuri Trikha" userId="6c20738c73399015" providerId="LiveId" clId="{269E12B7-76CD-436A-B9F5-31677DFC7E33}" dt="2026-04-03T03:36:45.592" v="461" actId="20577"/>
          <ac:spMkLst>
            <pc:docMk/>
            <pc:sldMk cId="0" sldId="261"/>
            <ac:spMk id="34" creationId="{00000000-0000-0000-0000-000000000000}"/>
          </ac:spMkLst>
        </pc:spChg>
        <pc:spChg chg="mod">
          <ac:chgData name="Pankhuri Trikha" userId="6c20738c73399015" providerId="LiveId" clId="{269E12B7-76CD-436A-B9F5-31677DFC7E33}" dt="2026-04-02T14:42:55.571" v="46" actId="5793"/>
          <ac:spMkLst>
            <pc:docMk/>
            <pc:sldMk cId="0" sldId="261"/>
            <ac:spMk id="37" creationId="{00000000-0000-0000-0000-000000000000}"/>
          </ac:spMkLst>
        </pc:spChg>
        <pc:spChg chg="mod">
          <ac:chgData name="Pankhuri Trikha" userId="6c20738c73399015" providerId="LiveId" clId="{269E12B7-76CD-436A-B9F5-31677DFC7E33}" dt="2026-04-02T14:43:15.906" v="97" actId="20577"/>
          <ac:spMkLst>
            <pc:docMk/>
            <pc:sldMk cId="0" sldId="261"/>
            <ac:spMk id="38" creationId="{00000000-0000-0000-0000-000000000000}"/>
          </ac:spMkLst>
        </pc:spChg>
        <pc:spChg chg="mod">
          <ac:chgData name="Pankhuri Trikha" userId="6c20738c73399015" providerId="LiveId" clId="{269E12B7-76CD-436A-B9F5-31677DFC7E33}" dt="2026-04-03T03:20:04.717" v="424" actId="20577"/>
          <ac:spMkLst>
            <pc:docMk/>
            <pc:sldMk cId="0" sldId="261"/>
            <ac:spMk id="48" creationId="{00000000-0000-0000-0000-000000000000}"/>
          </ac:spMkLst>
        </pc:spChg>
      </pc:sldChg>
      <pc:sldChg chg="delSp modSp mod">
        <pc:chgData name="Pankhuri Trikha" userId="6c20738c73399015" providerId="LiveId" clId="{269E12B7-76CD-436A-B9F5-31677DFC7E33}" dt="2026-04-02T17:00:39.464" v="382" actId="207"/>
        <pc:sldMkLst>
          <pc:docMk/>
          <pc:sldMk cId="0" sldId="262"/>
        </pc:sldMkLst>
        <pc:spChg chg="mod">
          <ac:chgData name="Pankhuri Trikha" userId="6c20738c73399015" providerId="LiveId" clId="{269E12B7-76CD-436A-B9F5-31677DFC7E33}" dt="2026-04-02T17:00:39.464" v="382" actId="207"/>
          <ac:spMkLst>
            <pc:docMk/>
            <pc:sldMk cId="0" sldId="262"/>
            <ac:spMk id="9" creationId="{00000000-0000-0000-0000-000000000000}"/>
          </ac:spMkLst>
        </pc:spChg>
        <pc:spChg chg="del">
          <ac:chgData name="Pankhuri Trikha" userId="6c20738c73399015" providerId="LiveId" clId="{269E12B7-76CD-436A-B9F5-31677DFC7E33}" dt="2026-04-02T16:58:43.450" v="380" actId="478"/>
          <ac:spMkLst>
            <pc:docMk/>
            <pc:sldMk cId="0" sldId="262"/>
            <ac:spMk id="28" creationId="{00000000-0000-0000-0000-000000000000}"/>
          </ac:spMkLst>
        </pc:spChg>
        <pc:spChg chg="mod">
          <ac:chgData name="Pankhuri Trikha" userId="6c20738c73399015" providerId="LiveId" clId="{269E12B7-76CD-436A-B9F5-31677DFC7E33}" dt="2026-04-02T16:58:40.365" v="379" actId="20577"/>
          <ac:spMkLst>
            <pc:docMk/>
            <pc:sldMk cId="0" sldId="262"/>
            <ac:spMk id="29" creationId="{00000000-0000-0000-0000-000000000000}"/>
          </ac:spMkLst>
        </pc:spChg>
      </pc:sldChg>
      <pc:sldChg chg="delSp mod">
        <pc:chgData name="Pankhuri Trikha" userId="6c20738c73399015" providerId="LiveId" clId="{269E12B7-76CD-436A-B9F5-31677DFC7E33}" dt="2026-04-03T04:51:07.399" v="467" actId="478"/>
        <pc:sldMkLst>
          <pc:docMk/>
          <pc:sldMk cId="0" sldId="263"/>
        </pc:sldMkLst>
        <pc:spChg chg="del">
          <ac:chgData name="Pankhuri Trikha" userId="6c20738c73399015" providerId="LiveId" clId="{269E12B7-76CD-436A-B9F5-31677DFC7E33}" dt="2026-04-03T04:50:47.500" v="466" actId="478"/>
          <ac:spMkLst>
            <pc:docMk/>
            <pc:sldMk cId="0" sldId="263"/>
            <ac:spMk id="2" creationId="{00000000-0000-0000-0000-000000000000}"/>
          </ac:spMkLst>
        </pc:spChg>
        <pc:spChg chg="del">
          <ac:chgData name="Pankhuri Trikha" userId="6c20738c73399015" providerId="LiveId" clId="{269E12B7-76CD-436A-B9F5-31677DFC7E33}" dt="2026-04-03T04:51:07.399" v="467" actId="478"/>
          <ac:spMkLst>
            <pc:docMk/>
            <pc:sldMk cId="0" sldId="263"/>
            <ac:spMk id="3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98094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6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0" y="1097280"/>
            <a:ext cx="2743200" cy="320040"/>
          </a:xfrm>
          <a:prstGeom prst="rect">
            <a:avLst/>
          </a:prstGeom>
          <a:solidFill>
            <a:srgbClr val="1E3A5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0" y="10972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HACKATHON · 2026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6002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DataPilot</a:t>
            </a:r>
            <a:endParaRPr lang="en-US" sz="5600" dirty="0"/>
          </a:p>
        </p:txBody>
      </p:sp>
      <p:sp>
        <p:nvSpPr>
          <p:cNvPr id="6" name="Text 4"/>
          <p:cNvSpPr/>
          <p:nvPr/>
        </p:nvSpPr>
        <p:spPr>
          <a:xfrm>
            <a:off x="457200" y="23317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Warehouse Partner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28346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anything. Get answers. No SQL required.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200400" y="3383280"/>
            <a:ext cx="2743200" cy="2286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35204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Pankhuri Trikha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38404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AgentZero · DataGrokr Agentic AI Hackathon 2026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82880" y="484632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DataPilot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25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274320"/>
            <a:ext cx="4206240" cy="4663440"/>
          </a:xfrm>
          <a:prstGeom prst="rect">
            <a:avLst/>
          </a:prstGeom>
          <a:solidFill>
            <a:srgbClr val="0F1629"/>
          </a:solidFill>
          <a:ln w="12700">
            <a:solidFill>
              <a:srgbClr val="0F1629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3657600" cy="8503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is everywhere.</a:t>
            </a:r>
            <a:endParaRPr lang="en-US" sz="3200" dirty="0"/>
          </a:p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Answers aren't.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2113529"/>
            <a:ext cx="237744" cy="23774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4672" y="2011680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Analysts wait days for SQL from engineers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2468880"/>
            <a:ext cx="237744" cy="237744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04672" y="2487167"/>
            <a:ext cx="3520440" cy="74066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>
                <a:solidFill>
                  <a:schemeClr val="bg1">
                    <a:lumMod val="85000"/>
                  </a:schemeClr>
                </a:solidFill>
              </a:rPr>
              <a:t>Business intent often gets lost in translation when requirements move to downstream data teams, leading to delays, misalignment, and rework</a:t>
            </a:r>
            <a:endParaRPr lang="en-US" sz="130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9" name="Shape 7"/>
          <p:cNvSpPr/>
          <p:nvPr/>
        </p:nvSpPr>
        <p:spPr>
          <a:xfrm>
            <a:off x="493776" y="3378709"/>
            <a:ext cx="237744" cy="237744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10" name="Text 8"/>
          <p:cNvSpPr/>
          <p:nvPr/>
        </p:nvSpPr>
        <p:spPr>
          <a:xfrm>
            <a:off x="804672" y="2871216"/>
            <a:ext cx="3520440" cy="1316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 tools need deep schema expertise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93776" y="3813048"/>
            <a:ext cx="237744" cy="237744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04672" y="3346704"/>
            <a:ext cx="3520440" cy="116044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get lost in team's chat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754880" y="50292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 GAP PERSISTS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754880" y="841248"/>
            <a:ext cx="3749040" cy="1078992"/>
          </a:xfrm>
          <a:prstGeom prst="rect">
            <a:avLst/>
          </a:prstGeom>
          <a:solidFill>
            <a:srgbClr val="1E2D4F"/>
          </a:solidFill>
          <a:ln w="12700">
            <a:solidFill>
              <a:srgbClr val="1E2D4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54880" y="841248"/>
            <a:ext cx="54864" cy="107899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37760" y="914400"/>
            <a:ext cx="3383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3–5 days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4937760" y="1335024"/>
            <a:ext cx="33832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time to fulfil a business data request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 the engineering queue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754880" y="2011680"/>
            <a:ext cx="3749040" cy="1078992"/>
          </a:xfrm>
          <a:prstGeom prst="rect">
            <a:avLst/>
          </a:prstGeom>
          <a:solidFill>
            <a:srgbClr val="1E2D4F"/>
          </a:solidFill>
          <a:ln w="12700">
            <a:solidFill>
              <a:srgbClr val="1E2D4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754880" y="2011680"/>
            <a:ext cx="54864" cy="107899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37760" y="2084832"/>
            <a:ext cx="3383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8B5C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80%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4937760" y="2505456"/>
            <a:ext cx="33832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business users cannot query their warehouse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directly without SQL expertise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754880" y="3182112"/>
            <a:ext cx="3749040" cy="1078992"/>
          </a:xfrm>
          <a:prstGeom prst="rect">
            <a:avLst/>
          </a:prstGeom>
          <a:solidFill>
            <a:srgbClr val="1E2D4F"/>
          </a:solidFill>
          <a:ln w="12700">
            <a:solidFill>
              <a:srgbClr val="1E2D4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754880" y="3182112"/>
            <a:ext cx="54864" cy="107899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37760" y="3255264"/>
            <a:ext cx="3383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F44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60%+</a:t>
            </a:r>
            <a:endParaRPr lang="en-US" sz="2600" dirty="0"/>
          </a:p>
        </p:txBody>
      </p:sp>
      <p:sp>
        <p:nvSpPr>
          <p:cNvPr id="25" name="Text 23"/>
          <p:cNvSpPr/>
          <p:nvPr/>
        </p:nvSpPr>
        <p:spPr>
          <a:xfrm>
            <a:off x="4937760" y="3675888"/>
            <a:ext cx="33832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data team bandwidth consumed by ad-hoc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requests vs. strategic work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754880" y="4352544"/>
            <a:ext cx="3749040" cy="502920"/>
          </a:xfrm>
          <a:prstGeom prst="rect">
            <a:avLst/>
          </a:prstGeom>
          <a:solidFill>
            <a:srgbClr val="0D2137"/>
          </a:solidFill>
          <a:ln w="12700">
            <a:solidFill>
              <a:srgbClr val="3B82F6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4846320" y="4379976"/>
            <a:ext cx="3566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"DataPilot brings self-serve analytics to any warehouse — out of the box."</a:t>
            </a:r>
            <a:endParaRPr lang="en-US" sz="1200" dirty="0"/>
          </a:p>
        </p:txBody>
      </p:sp>
      <p:sp>
        <p:nvSpPr>
          <p:cNvPr id="28" name="Shape 3">
            <a:extLst>
              <a:ext uri="{FF2B5EF4-FFF2-40B4-BE49-F238E27FC236}">
                <a16:creationId xmlns:a16="http://schemas.microsoft.com/office/drawing/2014/main" id="{CE49B4A1-D391-17BB-F6C5-95B563CC5A6D}"/>
              </a:ext>
            </a:extLst>
          </p:cNvPr>
          <p:cNvSpPr/>
          <p:nvPr/>
        </p:nvSpPr>
        <p:spPr>
          <a:xfrm>
            <a:off x="509600" y="4233672"/>
            <a:ext cx="237744" cy="23774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3" name="Text 4">
            <a:extLst>
              <a:ext uri="{FF2B5EF4-FFF2-40B4-BE49-F238E27FC236}">
                <a16:creationId xmlns:a16="http://schemas.microsoft.com/office/drawing/2014/main" id="{CD1DC683-4AF4-4D5F-3B2F-A21DDB747BA6}"/>
              </a:ext>
            </a:extLst>
          </p:cNvPr>
          <p:cNvSpPr/>
          <p:nvPr/>
        </p:nvSpPr>
        <p:spPr>
          <a:xfrm>
            <a:off x="820496" y="4187952"/>
            <a:ext cx="3657016" cy="31919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bg1">
                    <a:lumMod val="85000"/>
                  </a:schemeClr>
                </a:solidFill>
              </a:rPr>
              <a:t>Security concerns on providing access to multiple teams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6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DataPilot Thinks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365760" y="594360"/>
            <a:ext cx="8412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Hub-and-spoke: Orchestrator (LLM) decides which agent runs next — no hardcoded routing paths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3520440" y="1755648"/>
            <a:ext cx="2103120" cy="868680"/>
          </a:xfrm>
          <a:prstGeom prst="rect">
            <a:avLst/>
          </a:prstGeom>
          <a:solidFill>
            <a:srgbClr val="101C35"/>
          </a:solidFill>
          <a:ln w="12700">
            <a:solidFill>
              <a:srgbClr val="06B6D4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520440" y="1755648"/>
            <a:ext cx="73152" cy="86868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48456" y="1847088"/>
            <a:ext cx="19385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Orchestrator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648456" y="2194560"/>
            <a:ext cx="19385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LLM-powered dynamic router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28600" y="841248"/>
            <a:ext cx="1463040" cy="475488"/>
          </a:xfrm>
          <a:prstGeom prst="rect">
            <a:avLst/>
          </a:prstGeom>
          <a:solidFill>
            <a:srgbClr val="1E2D4F"/>
          </a:solidFill>
          <a:ln w="12700">
            <a:solidFill>
              <a:srgbClr val="8B5CF6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28600" y="841248"/>
            <a:ext cx="45720" cy="47548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886968"/>
            <a:ext cx="13441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KB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20040" y="1106424"/>
            <a:ext cx="13441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pgvector semantic cache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228600" y="1517904"/>
            <a:ext cx="1463040" cy="475488"/>
          </a:xfrm>
          <a:prstGeom prst="rect">
            <a:avLst/>
          </a:prstGeom>
          <a:solidFill>
            <a:srgbClr val="1E2D4F"/>
          </a:solidFill>
          <a:ln w="12700">
            <a:solidFill>
              <a:srgbClr val="3B82F6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28600" y="1517904"/>
            <a:ext cx="45720" cy="47548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" y="1563624"/>
            <a:ext cx="13441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Planner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20040" y="1783080"/>
            <a:ext cx="13441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 &amp; scope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228600" y="2194560"/>
            <a:ext cx="1463040" cy="475488"/>
          </a:xfrm>
          <a:prstGeom prst="rect">
            <a:avLst/>
          </a:prstGeom>
          <a:solidFill>
            <a:srgbClr val="1E2D4F"/>
          </a:solidFill>
          <a:ln w="12700">
            <a:solidFill>
              <a:srgbClr val="06B6D4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28600" y="2194560"/>
            <a:ext cx="45720" cy="47548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" y="2240280"/>
            <a:ext cx="13441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20040" y="2459736"/>
            <a:ext cx="13441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feasibility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228600" y="2871216"/>
            <a:ext cx="1463040" cy="475488"/>
          </a:xfrm>
          <a:prstGeom prst="rect">
            <a:avLst/>
          </a:prstGeom>
          <a:solidFill>
            <a:srgbClr val="1E2D4F"/>
          </a:solidFill>
          <a:ln w="12700">
            <a:solidFill>
              <a:srgbClr val="8B5CF6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28600" y="2871216"/>
            <a:ext cx="45720" cy="47548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0040" y="2916936"/>
            <a:ext cx="13441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Optimizer Prepare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20040" y="3136392"/>
            <a:ext cx="13441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+ cost estimate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7452360" y="841248"/>
            <a:ext cx="1463040" cy="475488"/>
          </a:xfrm>
          <a:prstGeom prst="rect">
            <a:avLst/>
          </a:prstGeom>
          <a:solidFill>
            <a:srgbClr val="1E2D4F"/>
          </a:solidFill>
          <a:ln w="1270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452360" y="841248"/>
            <a:ext cx="45720" cy="47548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543800" y="886968"/>
            <a:ext cx="13441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Optimizer Gate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543800" y="1106424"/>
            <a:ext cx="13441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HITL SQL approval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7452360" y="1517904"/>
            <a:ext cx="1463040" cy="475488"/>
          </a:xfrm>
          <a:prstGeom prst="rect">
            <a:avLst/>
          </a:prstGeom>
          <a:solidFill>
            <a:srgbClr val="1E2D4F"/>
          </a:solidFill>
          <a:ln w="1270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7452360" y="1517904"/>
            <a:ext cx="45720" cy="47548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543800" y="1563624"/>
            <a:ext cx="13441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Executor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7543800" y="1783080"/>
            <a:ext cx="13441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SQL on BQ / PG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7452360" y="2194560"/>
            <a:ext cx="1463040" cy="475488"/>
          </a:xfrm>
          <a:prstGeom prst="rect">
            <a:avLst/>
          </a:prstGeom>
          <a:solidFill>
            <a:srgbClr val="1E2D4F"/>
          </a:solidFill>
          <a:ln w="12700">
            <a:solidFill>
              <a:srgbClr val="10B981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7452360" y="2194560"/>
            <a:ext cx="45720" cy="47548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543800" y="2240280"/>
            <a:ext cx="13441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Validator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7543800" y="2459736"/>
            <a:ext cx="13441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Relevance check (LLM)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7452360" y="2871216"/>
            <a:ext cx="1463040" cy="475488"/>
          </a:xfrm>
          <a:prstGeom prst="rect">
            <a:avLst/>
          </a:prstGeom>
          <a:solidFill>
            <a:srgbClr val="1E2D4F"/>
          </a:solidFill>
          <a:ln w="12700">
            <a:solidFill>
              <a:srgbClr val="3B82F6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7452360" y="2871216"/>
            <a:ext cx="45720" cy="47548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543800" y="2916936"/>
            <a:ext cx="13441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7543800" y="3136392"/>
            <a:ext cx="13441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 + explanation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2226564" y="1078992"/>
            <a:ext cx="27432" cy="2029968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890004" y="1078992"/>
            <a:ext cx="27432" cy="2029968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691640" y="1065276"/>
            <a:ext cx="548640" cy="2743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2185416" y="1024128"/>
            <a:ext cx="109728" cy="109728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691640" y="1741932"/>
            <a:ext cx="548640" cy="2743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2185416" y="1700784"/>
            <a:ext cx="109728" cy="109728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691640" y="2418588"/>
            <a:ext cx="548640" cy="2743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2185416" y="2377440"/>
            <a:ext cx="109728" cy="109728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691640" y="3095244"/>
            <a:ext cx="548640" cy="2743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185416" y="3054096"/>
            <a:ext cx="109728" cy="109728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6903720" y="1065276"/>
            <a:ext cx="548640" cy="274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6848856" y="1024128"/>
            <a:ext cx="109728" cy="10972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6903720" y="1741932"/>
            <a:ext cx="548640" cy="274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848856" y="1700784"/>
            <a:ext cx="109728" cy="10972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6903720" y="2418588"/>
            <a:ext cx="548640" cy="2743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6848856" y="2377440"/>
            <a:ext cx="109728" cy="10972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6903720" y="3095244"/>
            <a:ext cx="548640" cy="2743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6848856" y="3054096"/>
            <a:ext cx="109728" cy="109728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240280" y="2176272"/>
            <a:ext cx="1280160" cy="2743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5623560" y="2176272"/>
            <a:ext cx="1280160" cy="2743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228600" y="3675888"/>
            <a:ext cx="8686800" cy="228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228600" y="3730752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FEEDBACK LOOPS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228600" y="3950208"/>
            <a:ext cx="2743200" cy="658368"/>
          </a:xfrm>
          <a:prstGeom prst="rect">
            <a:avLst/>
          </a:prstGeom>
          <a:solidFill>
            <a:srgbClr val="1A2547"/>
          </a:solidFill>
          <a:ln w="12700">
            <a:solidFill>
              <a:srgbClr val="EF4444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3" name="Text 61"/>
          <p:cNvSpPr/>
          <p:nvPr/>
        </p:nvSpPr>
        <p:spPr>
          <a:xfrm>
            <a:off x="338328" y="3986784"/>
            <a:ext cx="252374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Relevance FAIL</a:t>
            </a:r>
            <a:endParaRPr lang="en-US" sz="1100" dirty="0"/>
          </a:p>
        </p:txBody>
      </p:sp>
      <p:sp>
        <p:nvSpPr>
          <p:cNvPr id="64" name="Text 62"/>
          <p:cNvSpPr/>
          <p:nvPr/>
        </p:nvSpPr>
        <p:spPr>
          <a:xfrm>
            <a:off x="338328" y="4224528"/>
            <a:ext cx="252374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Validator → Orchestrator → Optimizer rewrites SQL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3127248" y="3950208"/>
            <a:ext cx="2743200" cy="658368"/>
          </a:xfrm>
          <a:prstGeom prst="rect">
            <a:avLst/>
          </a:prstGeom>
          <a:solidFill>
            <a:srgbClr val="1A2547"/>
          </a:solidFill>
          <a:ln w="1270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6" name="Text 64"/>
          <p:cNvSpPr/>
          <p:nvPr/>
        </p:nvSpPr>
        <p:spPr>
          <a:xfrm>
            <a:off x="3236976" y="3986784"/>
            <a:ext cx="252374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Decline</a:t>
            </a:r>
            <a:endParaRPr lang="en-US" sz="1100" dirty="0"/>
          </a:p>
        </p:txBody>
      </p:sp>
      <p:sp>
        <p:nvSpPr>
          <p:cNvPr id="67" name="Text 65"/>
          <p:cNvSpPr/>
          <p:nvPr/>
        </p:nvSpPr>
        <p:spPr>
          <a:xfrm>
            <a:off x="3236976" y="4224528"/>
            <a:ext cx="252374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Optimizer Gate → Orchestrator → New SQL generated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6025896" y="3950208"/>
            <a:ext cx="2743200" cy="658368"/>
          </a:xfrm>
          <a:prstGeom prst="rect">
            <a:avLst/>
          </a:prstGeom>
          <a:solidFill>
            <a:srgbClr val="1A2547"/>
          </a:solidFill>
          <a:ln w="12700">
            <a:solidFill>
              <a:srgbClr val="8B5CF6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9" name="Text 67"/>
          <p:cNvSpPr/>
          <p:nvPr/>
        </p:nvSpPr>
        <p:spPr>
          <a:xfrm>
            <a:off x="6135624" y="3986784"/>
            <a:ext cx="252374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Executor ERROR</a:t>
            </a:r>
            <a:endParaRPr lang="en-US" sz="1100" dirty="0"/>
          </a:p>
        </p:txBody>
      </p:sp>
      <p:sp>
        <p:nvSpPr>
          <p:cNvPr id="70" name="Text 68"/>
          <p:cNvSpPr/>
          <p:nvPr/>
        </p:nvSpPr>
        <p:spPr>
          <a:xfrm>
            <a:off x="6135624" y="4224528"/>
            <a:ext cx="252374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Executor → Orchestrator → Optimizer auto-rectifies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6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3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Let's Ask DataPilot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274320" y="1234440"/>
            <a:ext cx="2743200" cy="3639312"/>
          </a:xfrm>
          <a:prstGeom prst="rect">
            <a:avLst/>
          </a:prstGeom>
          <a:solidFill>
            <a:srgbClr val="1E2D4F"/>
          </a:solidFill>
          <a:ln w="12700">
            <a:solidFill>
              <a:srgbClr val="06B6D4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234440"/>
            <a:ext cx="274320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84048" y="1335024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BIGQUERY  ·  FIRST-TIME QUERY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84048" y="1591056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>
                <a:solidFill>
                  <a:schemeClr val="bg1"/>
                </a:solidFill>
              </a:rPr>
              <a:t>Show the top 10 brands by units sold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84048" y="2624328"/>
            <a:ext cx="2523744" cy="228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4048" y="2670048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FLOW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84048" y="2871216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query_kb miss → planner → discovery → optimizer prepare → HITL approval → executor → validator → visualization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84048" y="3730752"/>
            <a:ext cx="2523744" cy="228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4048" y="3776472"/>
            <a:ext cx="2560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pipeline. Every agent visible in the trace.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246120" y="1234440"/>
            <a:ext cx="2743200" cy="3639312"/>
          </a:xfrm>
          <a:prstGeom prst="rect">
            <a:avLst/>
          </a:prstGeom>
          <a:solidFill>
            <a:srgbClr val="1E2D4F"/>
          </a:solidFill>
          <a:ln w="12700">
            <a:solidFill>
              <a:srgbClr val="8B5CF6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46120" y="1234440"/>
            <a:ext cx="2743200" cy="54864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55848" y="1335024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  ·  PREVIOUSLY ASKED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355848" y="1591056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Which sales rep had the highest revenue in 2024?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3355848" y="2624328"/>
            <a:ext cx="2523744" cy="228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55848" y="2670048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FLOW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3355848" y="2871216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query_kb HIT → cached SQL surfaced → HITL → executor → visualization (planner + discovery + optimizer skipped)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355848" y="3730752"/>
            <a:ext cx="2523744" cy="228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355848" y="3776472"/>
            <a:ext cx="2560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KB cache hit. Shows how the system learns.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217920" y="1234440"/>
            <a:ext cx="2743200" cy="3639312"/>
          </a:xfrm>
          <a:prstGeom prst="rect">
            <a:avLst/>
          </a:prstGeom>
          <a:solidFill>
            <a:srgbClr val="1E2D4F"/>
          </a:solidFill>
          <a:ln w="12700">
            <a:solidFill>
              <a:srgbClr val="EF4444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217920" y="1234440"/>
            <a:ext cx="2743200" cy="5486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27648" y="1335024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CASE  ·  GUARDRAIL FIRES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6327648" y="1591056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Show me revenue for last month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6327648" y="2624328"/>
            <a:ext cx="2523744" cy="228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27648" y="2670048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FLOW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6327648" y="2871216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time_window_guard fires — data ends Dec 2024, 'last month' = March 2026 → blocked before any SQL is generated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327648" y="3730752"/>
            <a:ext cx="2523744" cy="228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327648" y="3776472"/>
            <a:ext cx="2560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user-facing message. No SQL attempted.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57200" y="4937760"/>
            <a:ext cx="8229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Narrate: orchestrator routing decisions · HITL interrupt pause · SQL + result table → chart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25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JUST A CHAIN OF API CALLS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Makes DataPilot Genuinely Agentic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decisions made at runtime — not scripted logic, not a fixed pipeline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261872"/>
            <a:ext cx="2578608" cy="1591056"/>
          </a:xfrm>
          <a:prstGeom prst="rect">
            <a:avLst/>
          </a:prstGeom>
          <a:solidFill>
            <a:srgbClr val="0F1629"/>
          </a:solidFill>
          <a:ln w="12700">
            <a:solidFill>
              <a:srgbClr val="06B6D4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261872"/>
            <a:ext cx="45720" cy="1591056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5488" y="1353312"/>
            <a:ext cx="243230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Orchestrator routing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75488" y="1719072"/>
            <a:ext cx="2432304" cy="1042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every agent completes, Gemini reads the full pipeline state and picks the next node. No Python if/else — the LLM reasons about gaps in the state and decides what to do next.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191256" y="1261872"/>
            <a:ext cx="2578608" cy="1591056"/>
          </a:xfrm>
          <a:prstGeom prst="rect">
            <a:avLst/>
          </a:prstGeom>
          <a:solidFill>
            <a:srgbClr val="0F1629"/>
          </a:solidFill>
          <a:ln w="12700">
            <a:solidFill>
              <a:srgbClr val="8B5CF6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191256" y="1261872"/>
            <a:ext cx="45720" cy="1591056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00984" y="1353312"/>
            <a:ext cx="243230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KB cache hit → pipeline skip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300984" y="1719072"/>
            <a:ext cx="2432304" cy="1042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Orchestrator checks pgvector KB first. On a semantic + schema match, it surfaces the cached SQL and skips planner, discovery, and optimizer entirely. The system remembers.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016752" y="1261872"/>
            <a:ext cx="2578608" cy="1591056"/>
          </a:xfrm>
          <a:prstGeom prst="rect">
            <a:avLst/>
          </a:prstGeom>
          <a:solidFill>
            <a:srgbClr val="0F1629"/>
          </a:solidFill>
          <a:ln w="1270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016752" y="1261872"/>
            <a:ext cx="45720" cy="159105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26480" y="1353312"/>
            <a:ext cx="243230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Human-in-the-loop with real consequences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126480" y="1719072"/>
            <a:ext cx="2432304" cy="1042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Optimizer Gate interrupts for SQL + cost review. Decline once → Orchestrator routes back to Optimizer to regenerate a better query. Decline twice → pipeline stops gracefully.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773936" y="2962656"/>
            <a:ext cx="2578608" cy="1591056"/>
          </a:xfrm>
          <a:prstGeom prst="rect">
            <a:avLst/>
          </a:prstGeom>
          <a:solidFill>
            <a:srgbClr val="0F1629"/>
          </a:solidFill>
          <a:ln w="12700">
            <a:solidFill>
              <a:srgbClr val="10B981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1773936" y="2962656"/>
            <a:ext cx="45720" cy="1591056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83664" y="3054096"/>
            <a:ext cx="243230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Relevance check reroute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883664" y="3419856"/>
            <a:ext cx="2432304" cy="1042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Validator asks Gemini: do these returned rows actually answer the question? If NO, Orchestrator routes back to Optimizer to rewrite the SQL — without any user intervention.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608576" y="2962656"/>
            <a:ext cx="2578608" cy="1591056"/>
          </a:xfrm>
          <a:prstGeom prst="rect">
            <a:avLst/>
          </a:prstGeom>
          <a:solidFill>
            <a:srgbClr val="0F1629"/>
          </a:solidFill>
          <a:ln w="12700">
            <a:solidFill>
              <a:srgbClr val="EF4444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608576" y="2962656"/>
            <a:ext cx="45720" cy="1591056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18304" y="3054096"/>
            <a:ext cx="243230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Executor error recovery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718304" y="3419856"/>
            <a:ext cx="2432304" cy="1042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database rejects the SQL, the raw error is forwarded through Orchestrator to Optimizer. Optimizer rewrites and auto-approves, bypassing HITL re-prompt on the corrected attempt.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6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Built for the Real World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365760" y="621792"/>
            <a:ext cx="84124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Guardrails, observability, evals, and deployment — production-grade from day one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932688"/>
            <a:ext cx="8229600" cy="228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005840"/>
            <a:ext cx="2377440" cy="1709928"/>
          </a:xfrm>
          <a:prstGeom prst="rect">
            <a:avLst/>
          </a:prstGeom>
          <a:solidFill>
            <a:srgbClr val="1A2547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005840"/>
            <a:ext cx="2377440" cy="548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097280"/>
            <a:ext cx="2240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Guardrails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1399032"/>
            <a:ext cx="2240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Injection Prevention — only SELECT ever runs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57200" y="1645920"/>
            <a:ext cx="2240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Range Validation — blocks queries outside data window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57200" y="1892808"/>
            <a:ext cx="2240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Hallucination Guard — every table &amp; column verified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57200" y="2139696"/>
            <a:ext cx="2240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buSzPct val="100000"/>
            </a:pP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57200" y="2157984"/>
            <a:ext cx="22402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Control — BQ dry-run; ceiling blocks expensive queries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880360" y="1005840"/>
            <a:ext cx="2377440" cy="1709928"/>
          </a:xfrm>
          <a:prstGeom prst="rect">
            <a:avLst/>
          </a:prstGeom>
          <a:solidFill>
            <a:srgbClr val="1A2547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880360" y="1005840"/>
            <a:ext cx="2377440" cy="5486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971800" y="1097280"/>
            <a:ext cx="2240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Observability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971800" y="1399032"/>
            <a:ext cx="438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046706" y="1106424"/>
            <a:ext cx="98249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</a:t>
            </a:r>
            <a:r>
              <a:rPr lang="en-US" sz="1100" b="1" dirty="0" err="1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Langfuse</a:t>
            </a:r>
            <a:r>
              <a:rPr lang="en-US" sz="11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971800" y="1431036"/>
            <a:ext cx="2240280" cy="2596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traces: per-agent spans for every query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971800" y="1702613"/>
            <a:ext cx="2240280" cy="2596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 prompt versioning (production label, 5-min cache)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971800" y="1974190"/>
            <a:ext cx="224028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tracking: thread_id → Langfuse session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2971800" y="2275942"/>
            <a:ext cx="2240280" cy="16459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call logs: input, output, latency, cost per call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2971800" y="2496313"/>
            <a:ext cx="2240280" cy="21945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spans: BQ dry-run bytes + Postgres table size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394960" y="1005840"/>
            <a:ext cx="2377440" cy="1709928"/>
          </a:xfrm>
          <a:prstGeom prst="rect">
            <a:avLst/>
          </a:prstGeom>
          <a:solidFill>
            <a:srgbClr val="1A2547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394960" y="1005840"/>
            <a:ext cx="2377440" cy="54864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0" y="1097280"/>
            <a:ext cx="2240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Evals &amp; Tests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486400" y="1399032"/>
            <a:ext cx="2240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"ignore prev instructions…" → injection guard ✓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486400" y="1645920"/>
            <a:ext cx="2240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"last month revenue" → time-window guard ✓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486400" y="1892808"/>
            <a:ext cx="2240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"Capital of France?" → LLM: out_of_scope ✓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486400" y="2139696"/>
            <a:ext cx="2240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"Show me everything" → LLM: needs_clarification ✓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486400" y="2386584"/>
            <a:ext cx="2240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Inconsistent result columns → validator fails ✓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600200" y="2834640"/>
            <a:ext cx="2377440" cy="1709928"/>
          </a:xfrm>
          <a:prstGeom prst="rect">
            <a:avLst/>
          </a:prstGeom>
          <a:solidFill>
            <a:srgbClr val="1A2547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1600200" y="2834640"/>
            <a:ext cx="237744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691640" y="2926080"/>
            <a:ext cx="2240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Cloud Deployment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1691640" y="3227832"/>
            <a:ext cx="2240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Gpt-5.4-mini— LLM for all agent reasoning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691640" y="3474720"/>
            <a:ext cx="2240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BigQuery — warehouse + dry-run cost API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691640" y="3721608"/>
            <a:ext cx="2240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Postgres — auth, checkpointer, pgvector KB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691640" y="3968496"/>
            <a:ext cx="2240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buSzPct val="100000"/>
            </a:pP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691640" y="3976726"/>
            <a:ext cx="2240280" cy="30723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 — App deployment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800600" y="2834640"/>
            <a:ext cx="2377440" cy="1709928"/>
          </a:xfrm>
          <a:prstGeom prst="rect">
            <a:avLst/>
          </a:prstGeom>
          <a:solidFill>
            <a:srgbClr val="1A2547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4800600" y="2834640"/>
            <a:ext cx="237744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892040" y="2926080"/>
            <a:ext cx="2240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Scalability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4892040" y="3227832"/>
            <a:ext cx="2240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Stateless FastAPI — each request independent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4892040" y="3474720"/>
            <a:ext cx="2240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 LangGraph — non-blocking agent execution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4892040" y="3721608"/>
            <a:ext cx="2240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SSE streaming — agent traces to UI in real time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4892040" y="3968496"/>
            <a:ext cx="2240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 checkpointer — threads survive restarts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4892040" y="4215384"/>
            <a:ext cx="2240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pgvector KB cache — repeated patterns skip LLM calls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457200" y="4626864"/>
            <a:ext cx="8229600" cy="384048"/>
          </a:xfrm>
          <a:prstGeom prst="rect">
            <a:avLst/>
          </a:prstGeom>
          <a:solidFill>
            <a:srgbClr val="1E2D4F"/>
          </a:solidFill>
          <a:ln w="12700">
            <a:solidFill>
              <a:srgbClr val="3B82F6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48" name="Text 46"/>
          <p:cNvSpPr/>
          <p:nvPr/>
        </p:nvSpPr>
        <p:spPr>
          <a:xfrm>
            <a:off x="457200" y="4626864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KB: </a:t>
            </a:r>
            <a:r>
              <a:rPr lang="en-US" sz="10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pgvector</a:t>
            </a: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+ </a:t>
            </a:r>
            <a:r>
              <a:rPr lang="en-US" sz="10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text-embedding-3-small</a:t>
            </a: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dialect-aware · schema fingerprint matching · configurable similarity threshold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25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Learnings &amp; What's Next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3200400" y="749808"/>
            <a:ext cx="2743200" cy="228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LEARNINGS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65760" y="1234440"/>
            <a:ext cx="3931920" cy="914400"/>
          </a:xfrm>
          <a:prstGeom prst="rect">
            <a:avLst/>
          </a:prstGeom>
          <a:solidFill>
            <a:srgbClr val="0F1629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234440"/>
            <a:ext cx="45720" cy="9144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490472"/>
            <a:ext cx="274320" cy="27432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49047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68680" y="1307592"/>
            <a:ext cx="329184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chemeClr val="bg1">
                    <a:lumMod val="85000"/>
                  </a:schemeClr>
                </a:solidFill>
              </a:rPr>
              <a:t>LLM routing needs guardrails: loop protection + precise prompts = stable agents</a:t>
            </a:r>
          </a:p>
        </p:txBody>
      </p:sp>
      <p:sp>
        <p:nvSpPr>
          <p:cNvPr id="10" name="Shape 8"/>
          <p:cNvSpPr/>
          <p:nvPr/>
        </p:nvSpPr>
        <p:spPr>
          <a:xfrm>
            <a:off x="365760" y="2258568"/>
            <a:ext cx="3931920" cy="914400"/>
          </a:xfrm>
          <a:prstGeom prst="rect">
            <a:avLst/>
          </a:prstGeom>
          <a:solidFill>
            <a:srgbClr val="0F1629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2258568"/>
            <a:ext cx="45720" cy="9144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02920" y="2514600"/>
            <a:ext cx="274320" cy="27432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25146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68680" y="2331720"/>
            <a:ext cx="329184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interrupt + async SSE handshake was the hardest integration — thread_id must align exactly across graph checkpoint, resume API, and frontend SSE subscription. One mismatch = silent hang.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3282696"/>
            <a:ext cx="3931920" cy="914400"/>
          </a:xfrm>
          <a:prstGeom prst="rect">
            <a:avLst/>
          </a:prstGeom>
          <a:solidFill>
            <a:srgbClr val="0F1629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3282696"/>
            <a:ext cx="45720" cy="9144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02920" y="3538728"/>
            <a:ext cx="274320" cy="27432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353872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68680" y="3355848"/>
            <a:ext cx="329184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pgvector similarity alone yields false cache hits across different schemas. Compound key (dialect + schema fingerprint + embedding) eliminated false positives and fixed hit precision.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0" y="91440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773168" y="1234440"/>
            <a:ext cx="27432" cy="27889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690872" y="1280160"/>
            <a:ext cx="182880" cy="18288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83480" y="1261872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Arbitrary warehouse connector — plug in any URL, auto-introspect schema, start asking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690872" y="1975104"/>
            <a:ext cx="182880" cy="18288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83480" y="1956816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Scheduled agentic reports — cron-triggered pipeline runs (e.g., top products every Monday)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690872" y="2670048"/>
            <a:ext cx="182880" cy="18288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83480" y="2651760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Collaborative queries — share results with teammates; branch into follow-up questions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983480" y="3346704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0" y="4315968"/>
            <a:ext cx="9144000" cy="502920"/>
          </a:xfrm>
          <a:prstGeom prst="rect">
            <a:avLst/>
          </a:prstGeom>
          <a:solidFill>
            <a:srgbClr val="0F1629"/>
          </a:solidFill>
          <a:ln w="12700">
            <a:solidFill>
              <a:srgbClr val="0F162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371600" y="4279392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3B82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</a:t>
            </a:r>
            <a:endParaRPr lang="en-US" sz="3200" dirty="0"/>
          </a:p>
        </p:txBody>
      </p:sp>
      <p:sp>
        <p:nvSpPr>
          <p:cNvPr id="32" name="Text 30"/>
          <p:cNvSpPr/>
          <p:nvPr/>
        </p:nvSpPr>
        <p:spPr>
          <a:xfrm>
            <a:off x="1097280" y="4572000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Nodes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114800" y="4279392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3B82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3200" dirty="0"/>
          </a:p>
        </p:txBody>
      </p:sp>
      <p:sp>
        <p:nvSpPr>
          <p:cNvPr id="34" name="Text 32"/>
          <p:cNvSpPr/>
          <p:nvPr/>
        </p:nvSpPr>
        <p:spPr>
          <a:xfrm>
            <a:off x="3840480" y="4572000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Warehouses Supported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858000" y="4279392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3B82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</a:t>
            </a:r>
            <a:endParaRPr lang="en-US" sz="3200" dirty="0"/>
          </a:p>
        </p:txBody>
      </p:sp>
      <p:sp>
        <p:nvSpPr>
          <p:cNvPr id="36" name="Text 34"/>
          <p:cNvSpPr/>
          <p:nvPr/>
        </p:nvSpPr>
        <p:spPr>
          <a:xfrm>
            <a:off x="6583680" y="4572000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Hardcoded SQL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6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457200" y="1371600"/>
            <a:ext cx="8229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Thank You</a:t>
            </a:r>
            <a:endParaRPr lang="en-US" sz="6400" dirty="0"/>
          </a:p>
        </p:txBody>
      </p:sp>
      <p:sp>
        <p:nvSpPr>
          <p:cNvPr id="5" name="Shape 3"/>
          <p:cNvSpPr/>
          <p:nvPr/>
        </p:nvSpPr>
        <p:spPr>
          <a:xfrm>
            <a:off x="3200400" y="2377440"/>
            <a:ext cx="2743200" cy="36576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2542032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DataPilot — Ask anything. Get answers. No SQL required.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274320" y="3246120"/>
            <a:ext cx="2834640" cy="640080"/>
          </a:xfrm>
          <a:prstGeom prst="rect">
            <a:avLst/>
          </a:prstGeom>
          <a:solidFill>
            <a:srgbClr val="1E2D4F"/>
          </a:solidFill>
          <a:ln w="12700">
            <a:solidFill>
              <a:srgbClr val="3B82F6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65760" y="3291840"/>
            <a:ext cx="2651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by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65760" y="3511296"/>
            <a:ext cx="26517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Pankhuri Trikha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46120" y="3246120"/>
            <a:ext cx="2834640" cy="640080"/>
          </a:xfrm>
          <a:prstGeom prst="rect">
            <a:avLst/>
          </a:prstGeom>
          <a:solidFill>
            <a:srgbClr val="1E2D4F"/>
          </a:solidFill>
          <a:ln w="12700">
            <a:solidFill>
              <a:srgbClr val="8B5CF6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337560" y="3291840"/>
            <a:ext cx="2651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337560" y="3511296"/>
            <a:ext cx="26517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DataGrokr Agentic AI Hackathon 2026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217920" y="3246120"/>
            <a:ext cx="2834640" cy="640080"/>
          </a:xfrm>
          <a:prstGeom prst="rect">
            <a:avLst/>
          </a:prstGeom>
          <a:solidFill>
            <a:srgbClr val="1E2D4F"/>
          </a:solidFill>
          <a:ln w="12700">
            <a:solidFill>
              <a:srgbClr val="06B6D4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309360" y="3291840"/>
            <a:ext cx="2651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309360" y="3511296"/>
            <a:ext cx="26517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April 3, 2026 · Session 1 · 11:45 AM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4206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welcome!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326</TotalTime>
  <Words>1039</Words>
  <Application>Microsoft Office PowerPoint</Application>
  <PresentationFormat>On-screen Show (16:9)</PresentationFormat>
  <Paragraphs>151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DataPilot — Hackathon 2026</dc:title>
  <dc:subject>PptxGenJS Presentation</dc:subject>
  <dc:creator>Pankhuri Trikha</dc:creator>
  <cp:lastModifiedBy>Pankhuri Trikha</cp:lastModifiedBy>
  <cp:revision>1</cp:revision>
  <dcterms:created xsi:type="dcterms:W3CDTF">2026-04-02T13:26:55Z</dcterms:created>
  <dcterms:modified xsi:type="dcterms:W3CDTF">2026-04-03T04:51:07Z</dcterms:modified>
</cp:coreProperties>
</file>