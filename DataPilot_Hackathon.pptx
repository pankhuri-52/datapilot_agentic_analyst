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A8B9F26-FADD-45BD-BDCC-DC880AF7E700}" v="1" dt="2026-04-01T13:01:01.3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36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nkhuri Trikha" userId="6c20738c73399015" providerId="LiveId" clId="{269E12B7-76CD-436A-B9F5-31677DFC7E33}"/>
    <pc:docChg chg="custSel modSld">
      <pc:chgData name="Pankhuri Trikha" userId="6c20738c73399015" providerId="LiveId" clId="{269E12B7-76CD-436A-B9F5-31677DFC7E33}" dt="2026-04-01T17:56:29.172" v="10" actId="14100"/>
      <pc:docMkLst>
        <pc:docMk/>
      </pc:docMkLst>
      <pc:sldChg chg="delSp mod">
        <pc:chgData name="Pankhuri Trikha" userId="6c20738c73399015" providerId="LiveId" clId="{269E12B7-76CD-436A-B9F5-31677DFC7E33}" dt="2026-04-01T12:59:28.587" v="1" actId="478"/>
        <pc:sldMkLst>
          <pc:docMk/>
          <pc:sldMk cId="0" sldId="256"/>
        </pc:sldMkLst>
        <pc:spChg chg="del">
          <ac:chgData name="Pankhuri Trikha" userId="6c20738c73399015" providerId="LiveId" clId="{269E12B7-76CD-436A-B9F5-31677DFC7E33}" dt="2026-04-01T12:59:26.035" v="0" actId="478"/>
          <ac:spMkLst>
            <pc:docMk/>
            <pc:sldMk cId="0" sldId="256"/>
            <ac:spMk id="2" creationId="{00000000-0000-0000-0000-000000000000}"/>
          </ac:spMkLst>
        </pc:spChg>
        <pc:spChg chg="del">
          <ac:chgData name="Pankhuri Trikha" userId="6c20738c73399015" providerId="LiveId" clId="{269E12B7-76CD-436A-B9F5-31677DFC7E33}" dt="2026-04-01T12:59:28.587" v="1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Pankhuri Trikha" userId="6c20738c73399015" providerId="LiveId" clId="{269E12B7-76CD-436A-B9F5-31677DFC7E33}" dt="2026-04-01T17:56:29.172" v="10" actId="14100"/>
        <pc:sldMkLst>
          <pc:docMk/>
          <pc:sldMk cId="0" sldId="257"/>
        </pc:sldMkLst>
        <pc:spChg chg="mod">
          <ac:chgData name="Pankhuri Trikha" userId="6c20738c73399015" providerId="LiveId" clId="{269E12B7-76CD-436A-B9F5-31677DFC7E33}" dt="2026-04-01T17:56:23.224" v="9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Pankhuri Trikha" userId="6c20738c73399015" providerId="LiveId" clId="{269E12B7-76CD-436A-B9F5-31677DFC7E33}" dt="2026-04-01T17:56:29.172" v="10" actId="14100"/>
          <ac:spMkLst>
            <pc:docMk/>
            <pc:sldMk cId="0" sldId="257"/>
            <ac:spMk id="6" creationId="{00000000-0000-0000-0000-000000000000}"/>
          </ac:spMkLst>
        </pc:spChg>
        <pc:spChg chg="mod">
          <ac:chgData name="Pankhuri Trikha" userId="6c20738c73399015" providerId="LiveId" clId="{269E12B7-76CD-436A-B9F5-31677DFC7E33}" dt="2026-04-01T17:53:52.648" v="8" actId="1076"/>
          <ac:spMkLst>
            <pc:docMk/>
            <pc:sldMk cId="0" sldId="257"/>
            <ac:spMk id="7" creationId="{00000000-0000-0000-0000-000000000000}"/>
          </ac:spMkLst>
        </pc:spChg>
      </pc:sldChg>
      <pc:sldChg chg="addSp delSp modSp mod">
        <pc:chgData name="Pankhuri Trikha" userId="6c20738c73399015" providerId="LiveId" clId="{269E12B7-76CD-436A-B9F5-31677DFC7E33}" dt="2026-04-01T13:01:09.618" v="6" actId="478"/>
        <pc:sldMkLst>
          <pc:docMk/>
          <pc:sldMk cId="0" sldId="258"/>
        </pc:sldMkLst>
        <pc:spChg chg="add del mod">
          <ac:chgData name="Pankhuri Trikha" userId="6c20738c73399015" providerId="LiveId" clId="{269E12B7-76CD-436A-B9F5-31677DFC7E33}" dt="2026-04-01T13:01:09.618" v="6" actId="478"/>
          <ac:spMkLst>
            <pc:docMk/>
            <pc:sldMk cId="0" sldId="258"/>
            <ac:spMk id="55" creationId="{F5BD2E23-4EA0-0909-0B90-5F07E5672081}"/>
          </ac:spMkLst>
        </pc:spChg>
      </pc:sldChg>
      <pc:sldChg chg="delSp mod">
        <pc:chgData name="Pankhuri Trikha" userId="6c20738c73399015" providerId="LiveId" clId="{269E12B7-76CD-436A-B9F5-31677DFC7E33}" dt="2026-04-01T12:59:57.502" v="3" actId="478"/>
        <pc:sldMkLst>
          <pc:docMk/>
          <pc:sldMk cId="0" sldId="263"/>
        </pc:sldMkLst>
        <pc:spChg chg="del">
          <ac:chgData name="Pankhuri Trikha" userId="6c20738c73399015" providerId="LiveId" clId="{269E12B7-76CD-436A-B9F5-31677DFC7E33}" dt="2026-04-01T12:59:55.198" v="2" actId="478"/>
          <ac:spMkLst>
            <pc:docMk/>
            <pc:sldMk cId="0" sldId="263"/>
            <ac:spMk id="2" creationId="{00000000-0000-0000-0000-000000000000}"/>
          </ac:spMkLst>
        </pc:spChg>
        <pc:spChg chg="del">
          <ac:chgData name="Pankhuri Trikha" userId="6c20738c73399015" providerId="LiveId" clId="{269E12B7-76CD-436A-B9F5-31677DFC7E33}" dt="2026-04-01T12:59:57.502" v="3" actId="478"/>
          <ac:spMkLst>
            <pc:docMk/>
            <pc:sldMk cId="0" sldId="263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14100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315200" y="-365760"/>
            <a:ext cx="2286000" cy="2286000"/>
          </a:xfrm>
          <a:prstGeom prst="ellipse">
            <a:avLst/>
          </a:prstGeom>
          <a:solidFill>
            <a:srgbClr val="06B6D4">
              <a:alpha val="20000"/>
            </a:srgbClr>
          </a:solidFill>
          <a:ln w="12700">
            <a:solidFill>
              <a:srgbClr val="06B6D4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200400" y="1097280"/>
            <a:ext cx="274320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0" y="10972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HACKATHON ·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DataPilot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Warehouse Partner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anything. Get answers. No SQL required.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200400" y="3383280"/>
            <a:ext cx="2743200" cy="228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20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Pankhuri Trikha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840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AgentZero · DataGrokr Agentic AI Hackathon 2026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82880" y="48463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DataPilot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4206240" cy="4663440"/>
          </a:xfrm>
          <a:prstGeom prst="rect">
            <a:avLst/>
          </a:prstGeom>
          <a:solidFill>
            <a:srgbClr val="0F1629"/>
          </a:solidFill>
          <a:ln w="12700">
            <a:solidFill>
              <a:srgbClr val="0F1629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5029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is everywhere.</a:t>
            </a:r>
            <a:endParaRPr lang="en-US" sz="3200" dirty="0"/>
          </a:p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Answers aren't.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2116836"/>
            <a:ext cx="256032" cy="25603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3474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Analysts wait days for SQL from engineers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568913"/>
            <a:ext cx="256032" cy="25603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441448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users can't self-serve on warehouses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71800"/>
            <a:ext cx="256032" cy="256032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916936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 tools need deep schema expertise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447288"/>
            <a:ext cx="256032" cy="25603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392424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get lost in Slack threads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50292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BIG COMPANIES SOLVED IT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0" y="868680"/>
            <a:ext cx="3749040" cy="1097280"/>
          </a:xfrm>
          <a:prstGeom prst="rect">
            <a:avLst/>
          </a:prstGeom>
          <a:solidFill>
            <a:srgbClr val="1E2D4F"/>
          </a:solidFill>
          <a:ln w="12700">
            <a:solidFill>
              <a:srgbClr val="1E2D4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37760" y="9601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937760" y="125272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QueryGPT — internal NL-to-SQL over Presto/Hive; reduced analyst query time by ~40%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2057400"/>
            <a:ext cx="3749040" cy="1097280"/>
          </a:xfrm>
          <a:prstGeom prst="rect">
            <a:avLst/>
          </a:prstGeom>
          <a:solidFill>
            <a:srgbClr val="1E2D4F"/>
          </a:solidFill>
          <a:ln w="12700">
            <a:solidFill>
              <a:srgbClr val="1E2D4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937760" y="21488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Airbnb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37760" y="244144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Minerva — semantic layer + NL query interface; democratized data access for non-engineers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3246120"/>
            <a:ext cx="3749040" cy="1097280"/>
          </a:xfrm>
          <a:prstGeom prst="rect">
            <a:avLst/>
          </a:prstGeom>
          <a:solidFill>
            <a:srgbClr val="1E2D4F"/>
          </a:solidFill>
          <a:ln w="12700">
            <a:solidFill>
              <a:srgbClr val="1E2D4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937760" y="33375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37760" y="3630168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ThirdEye + DARWIN — self-serve analytics with NL queries over their warehouse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54880" y="4160520"/>
            <a:ext cx="3749040" cy="548640"/>
          </a:xfrm>
          <a:prstGeom prst="rect">
            <a:avLst/>
          </a:prstGeom>
          <a:solidFill>
            <a:srgbClr val="0D2137"/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46320" y="420624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"DataPilot brings this to any warehouse — out of the box."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DataPilot Thinks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621792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6-node LangGraph pipeline with memory, guardrails &amp; human-in-the-loop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1828800" cy="502920"/>
          </a:xfrm>
          <a:prstGeom prst="rect">
            <a:avLst/>
          </a:prstGeom>
          <a:solidFill>
            <a:srgbClr val="1E1040"/>
          </a:solidFill>
          <a:ln w="12700">
            <a:solidFill>
              <a:srgbClr val="8B5CF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795528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Query KB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996696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→ Interrupt → Re-use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886968" y="1252728"/>
            <a:ext cx="27432" cy="53035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86968" y="1252728"/>
            <a:ext cx="1216152" cy="274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07899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hit?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65760" y="1783080"/>
            <a:ext cx="1005840" cy="640080"/>
          </a:xfrm>
          <a:prstGeom prst="rect">
            <a:avLst/>
          </a:prstGeom>
          <a:solidFill>
            <a:srgbClr val="1E2D4F"/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1783080"/>
            <a:ext cx="54864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856232"/>
            <a:ext cx="896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130552"/>
            <a:ext cx="8961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intent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1371600" y="2089404"/>
            <a:ext cx="59436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1783080"/>
            <a:ext cx="1005840" cy="640080"/>
          </a:xfrm>
          <a:prstGeom prst="rect">
            <a:avLst/>
          </a:prstGeom>
          <a:solidFill>
            <a:srgbClr val="1E2D4F"/>
          </a:solidFill>
          <a:ln w="12700">
            <a:solidFill>
              <a:srgbClr val="06B6D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1600200" y="1783080"/>
            <a:ext cx="54864" cy="64008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691640" y="1856232"/>
            <a:ext cx="896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691640" y="2130552"/>
            <a:ext cx="8961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+ data_range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606040" y="2089404"/>
            <a:ext cx="59436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34640" y="1783080"/>
            <a:ext cx="1005840" cy="640080"/>
          </a:xfrm>
          <a:prstGeom prst="rect">
            <a:avLst/>
          </a:prstGeom>
          <a:solidFill>
            <a:srgbClr val="1E2D4F"/>
          </a:solidFill>
          <a:ln w="12700">
            <a:solidFill>
              <a:srgbClr val="8B5CF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834640" y="1783080"/>
            <a:ext cx="54864" cy="6400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26080" y="1856232"/>
            <a:ext cx="896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926080" y="2130552"/>
            <a:ext cx="8961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+ cost est.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840480" y="2089404"/>
            <a:ext cx="59436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69080" y="1783080"/>
            <a:ext cx="1005840" cy="640080"/>
          </a:xfrm>
          <a:prstGeom prst="rect">
            <a:avLst/>
          </a:prstGeom>
          <a:solidFill>
            <a:srgbClr val="1E2D4F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069080" y="1783080"/>
            <a:ext cx="54864" cy="640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60520" y="1856232"/>
            <a:ext cx="896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Executor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160520" y="2130552"/>
            <a:ext cx="8961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BQ/PG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074920" y="2089404"/>
            <a:ext cx="59436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303520" y="1783080"/>
            <a:ext cx="1005840" cy="640080"/>
          </a:xfrm>
          <a:prstGeom prst="rect">
            <a:avLst/>
          </a:prstGeom>
          <a:solidFill>
            <a:srgbClr val="1E2D4F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303520" y="1783080"/>
            <a:ext cx="54864" cy="6400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94960" y="1856232"/>
            <a:ext cx="896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94960" y="2130552"/>
            <a:ext cx="8961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quality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309360" y="2089404"/>
            <a:ext cx="594360" cy="274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37960" y="1783080"/>
            <a:ext cx="1005840" cy="640080"/>
          </a:xfrm>
          <a:prstGeom prst="rect">
            <a:avLst/>
          </a:prstGeom>
          <a:solidFill>
            <a:srgbClr val="1E2D4F"/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537960" y="1783080"/>
            <a:ext cx="54864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29400" y="1856232"/>
            <a:ext cx="8961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29400" y="2130552"/>
            <a:ext cx="8961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+ explain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558284" y="2423160"/>
            <a:ext cx="27432" cy="548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49040" y="3291840"/>
            <a:ext cx="1645920" cy="502920"/>
          </a:xfrm>
          <a:prstGeom prst="rect">
            <a:avLst/>
          </a:prstGeom>
          <a:solidFill>
            <a:srgbClr val="2D1F0A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749040" y="331012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⏸ Human Approval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749040" y="353872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 ·  Decline &amp; Re-run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680960" y="1188720"/>
            <a:ext cx="1280160" cy="594360"/>
          </a:xfrm>
          <a:prstGeom prst="rect">
            <a:avLst/>
          </a:prstGeom>
          <a:solidFill>
            <a:srgbClr val="1A2547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772400" y="124358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72400" y="14630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680960" y="1965960"/>
            <a:ext cx="1280160" cy="594360"/>
          </a:xfrm>
          <a:prstGeom prst="rect">
            <a:avLst/>
          </a:prstGeom>
          <a:solidFill>
            <a:srgbClr val="1A2547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7772400" y="202082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Persist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772400" y="22402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57200" y="4114800"/>
            <a:ext cx="128016" cy="12801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40080" y="4087368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interrupt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3108960" y="4114800"/>
            <a:ext cx="128016" cy="128016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91840" y="4087368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Knowledge Base (pgvector)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760720" y="4114800"/>
            <a:ext cx="128016" cy="12801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943600" y="4087368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Warehouse: BigQuery / PostgreSQL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11887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371600" y="155448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Let's Ask DataPilot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question. A real query. A real answer.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291840"/>
            <a:ext cx="2377440" cy="411480"/>
          </a:xfrm>
          <a:prstGeom prst="rect">
            <a:avLst/>
          </a:prstGeom>
          <a:solidFill>
            <a:srgbClr val="1E2D4F"/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329184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sales rep last quarter?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83280" y="3291840"/>
            <a:ext cx="2377440" cy="411480"/>
          </a:xfrm>
          <a:prstGeom prst="rect">
            <a:avLst/>
          </a:prstGeom>
          <a:solidFill>
            <a:srgbClr val="1E2D4F"/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83280" y="329184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campaign drove most orders?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035040" y="3291840"/>
            <a:ext cx="2377440" cy="411480"/>
          </a:xfrm>
          <a:prstGeom prst="rect">
            <a:avLst/>
          </a:prstGeom>
          <a:solidFill>
            <a:srgbClr val="1E2D4F"/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035040" y="329184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brand — last 6 months?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4160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Narrate: plan → approval interrupt → SQL → result table → chart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731520"/>
            <a:ext cx="54864" cy="36576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7772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CHAIN OF API CALLS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105156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Makes</a:t>
            </a:r>
            <a:endParaRPr lang="en-US" sz="3400" dirty="0"/>
          </a:p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DataPilot Agentic?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94360" y="23317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properties that define genuine agentic behavior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320040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0" b="1" dirty="0">
                <a:solidFill>
                  <a:srgbClr val="1E2D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12000" dirty="0"/>
          </a:p>
        </p:txBody>
      </p:sp>
      <p:sp>
        <p:nvSpPr>
          <p:cNvPr id="7" name="Shape 5"/>
          <p:cNvSpPr/>
          <p:nvPr/>
        </p:nvSpPr>
        <p:spPr>
          <a:xfrm>
            <a:off x="3657600" y="594360"/>
            <a:ext cx="2286000" cy="1691640"/>
          </a:xfrm>
          <a:prstGeom prst="rect">
            <a:avLst/>
          </a:prstGeom>
          <a:solidFill>
            <a:srgbClr val="0F1629"/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0" y="594360"/>
            <a:ext cx="54864" cy="1691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94760" y="6858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Planning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794760" y="105156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classifies scope — in-scope, vague, or out-of-range — without any human input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594360"/>
            <a:ext cx="2286000" cy="1691640"/>
          </a:xfrm>
          <a:prstGeom prst="rect">
            <a:avLst/>
          </a:prstGeom>
          <a:solidFill>
            <a:srgbClr val="0F1629"/>
          </a:solidFill>
          <a:ln w="12700">
            <a:solidFill>
              <a:srgbClr val="8B5CF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17920" y="594360"/>
            <a:ext cx="54864" cy="169164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6858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Reasoning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55080" y="105156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6-node LangGraph graph; each node decides independently; branches on KB hit, scope fail, or interrupt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0" y="2514600"/>
            <a:ext cx="2286000" cy="1691640"/>
          </a:xfrm>
          <a:prstGeom prst="rect">
            <a:avLst/>
          </a:prstGeom>
          <a:solidFill>
            <a:srgbClr val="0F1629"/>
          </a:solidFill>
          <a:ln w="12700">
            <a:solidFill>
              <a:srgbClr val="F59E0B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0" y="2514600"/>
            <a:ext cx="54864" cy="16916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4760" y="26060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794760" y="297180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Pauses for table + execution approval — a deliberate choice, not a limitation. Real control.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2514600"/>
            <a:ext cx="2286000" cy="1691640"/>
          </a:xfrm>
          <a:prstGeom prst="rect">
            <a:avLst/>
          </a:prstGeom>
          <a:solidFill>
            <a:srgbClr val="0F1629"/>
          </a:solidFill>
          <a:ln w="12700">
            <a:solidFill>
              <a:srgbClr val="10B981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514600"/>
            <a:ext cx="54864" cy="169164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55080" y="26060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&amp; Learning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55080" y="2971800"/>
            <a:ext cx="20116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Query KB stores past queries; embeddings match and surface similar patterns on next run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0" y="4315968"/>
            <a:ext cx="5120640" cy="594360"/>
          </a:xfrm>
          <a:prstGeom prst="rect">
            <a:avLst/>
          </a:prstGeom>
          <a:solidFill>
            <a:srgbClr val="0F1629"/>
          </a:solidFill>
          <a:ln w="12700">
            <a:solidFill>
              <a:srgbClr val="06B6D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0" y="4315968"/>
            <a:ext cx="54864" cy="5943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94760" y="4343400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 —  LLM-Powered Dynamic Router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794760" y="460857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decides which node runs next — no hardcoded Python routing. Routes on KB hit, scope fail, cost block, retry, or END.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0" y="4315968"/>
            <a:ext cx="3520440" cy="594360"/>
          </a:xfrm>
          <a:prstGeom prst="rect">
            <a:avLst/>
          </a:prstGeom>
          <a:solidFill>
            <a:srgbClr val="0F1629"/>
          </a:solidFill>
          <a:ln w="12700">
            <a:solidFill>
              <a:srgbClr val="0F162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" y="4315968"/>
            <a:ext cx="3474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"Each node decides.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remembers.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stay in control."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for the Real World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65760" y="6400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features across guardrails, observability, and deployment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28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2377440" cy="1417320"/>
          </a:xfrm>
          <a:prstGeom prst="rect">
            <a:avLst/>
          </a:prstGeom>
          <a:solidFill>
            <a:srgbClr val="1A2547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88720"/>
            <a:ext cx="237744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9844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62763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Time-window validation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9293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detection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23113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Out-of-range fast-fail before SQL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80360" y="1188720"/>
            <a:ext cx="2377440" cy="1417320"/>
          </a:xfrm>
          <a:prstGeom prst="rect">
            <a:avLst/>
          </a:prstGeom>
          <a:solidFill>
            <a:srgbClr val="1A2547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80360" y="1188720"/>
            <a:ext cx="237744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71800" y="129844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Observability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71800" y="162763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logging (LOG_LEVEL)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971800" y="19293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Exponential backoff retries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971800" y="223113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transient-I/O retry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394960" y="1188720"/>
            <a:ext cx="2377440" cy="1417320"/>
          </a:xfrm>
          <a:prstGeom prst="rect">
            <a:avLst/>
          </a:prstGeom>
          <a:solidFill>
            <a:srgbClr val="1A2547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394960" y="1188720"/>
            <a:ext cx="237744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0" y="129844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Evals &amp; Testing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162763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DATAPILOT_SKIP_INTERRUPTS flag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86400" y="192938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MemorySaver fallback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23113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Env-flag behavior toggles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600200" y="2697480"/>
            <a:ext cx="2377440" cy="1417320"/>
          </a:xfrm>
          <a:prstGeom prst="rect">
            <a:avLst/>
          </a:prstGeom>
          <a:solidFill>
            <a:srgbClr val="1A2547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1600200" y="2697480"/>
            <a:ext cx="23774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691640" y="28072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Deployment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691640" y="3136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+ GCP service account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691640" y="343814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 checkpointer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691640" y="373989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Vercel-ready env vars (incl. B64 SA key)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00600" y="2697480"/>
            <a:ext cx="2377440" cy="1417320"/>
          </a:xfrm>
          <a:prstGeom prst="rect">
            <a:avLst/>
          </a:prstGeom>
          <a:solidFill>
            <a:srgbClr val="1A2547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00600" y="2697480"/>
            <a:ext cx="237744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92040" y="280720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892040" y="31363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FastAPI backend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892040" y="3438144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LangGraph execution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92040" y="3739896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streaming — no blocking waits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solidFill>
            <a:srgbClr val="1E2D4F"/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5720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KB: </a:t>
            </a: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r>
              <a:rPr lang="en-US" sz="11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gemini-embedding-001</a:t>
            </a: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dialect-aware · schema fingerprint matching · configurable similarity threshold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5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Learnings &amp; What's Next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00400" y="749808"/>
            <a:ext cx="2743200" cy="228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3840480" cy="822960"/>
          </a:xfrm>
          <a:prstGeom prst="rect">
            <a:avLst/>
          </a:prstGeom>
          <a:solidFill>
            <a:srgbClr val="0F1629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234440"/>
            <a:ext cx="4572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6304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4630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1307592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thread_id / conversation_id SSE handshake was the trickiest part — async state sync across interrupts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2240280"/>
            <a:ext cx="3840480" cy="822960"/>
          </a:xfrm>
          <a:prstGeom prst="rect">
            <a:avLst/>
          </a:prstGeom>
          <a:solidFill>
            <a:srgbClr val="0F1629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240280"/>
            <a:ext cx="4572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246888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68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68680" y="2313432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metadata.json data_range must stay in sync with actual warehouse data or guardrails mislead the model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246120"/>
            <a:ext cx="3840480" cy="822960"/>
          </a:xfrm>
          <a:prstGeom prst="rect">
            <a:avLst/>
          </a:prstGeom>
          <a:solidFill>
            <a:srgbClr val="0F1629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246120"/>
            <a:ext cx="45720" cy="8229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3474720"/>
            <a:ext cx="274320" cy="27432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474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8680" y="3319272"/>
            <a:ext cx="3200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KB cache: dialect + schema fingerprint matching is subtle but critical for hit rate — wrong fingerprint = always a miss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91440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73168" y="1234440"/>
            <a:ext cx="27432" cy="28346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90872" y="1280160"/>
            <a:ext cx="182880" cy="18288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83480" y="126187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Arbitrary data source connectors — connect any warehouse URL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690872" y="1965960"/>
            <a:ext cx="182880" cy="18288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194767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&amp; testing suite for agent decision quality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90872" y="2651760"/>
            <a:ext cx="182880" cy="18288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83480" y="263347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support with per-org schema isolation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297680"/>
            <a:ext cx="9144000" cy="502920"/>
          </a:xfrm>
          <a:prstGeom prst="rect">
            <a:avLst/>
          </a:prstGeom>
          <a:solidFill>
            <a:srgbClr val="0F1629"/>
          </a:solidFill>
          <a:ln w="12700">
            <a:solidFill>
              <a:srgbClr val="0F162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71600" y="427939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3200" dirty="0"/>
          </a:p>
        </p:txBody>
      </p:sp>
      <p:sp>
        <p:nvSpPr>
          <p:cNvPr id="30" name="Text 28"/>
          <p:cNvSpPr/>
          <p:nvPr/>
        </p:nvSpPr>
        <p:spPr>
          <a:xfrm>
            <a:off x="1097280" y="457200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Nodes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114800" y="427939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200" dirty="0"/>
          </a:p>
        </p:txBody>
      </p:sp>
      <p:sp>
        <p:nvSpPr>
          <p:cNvPr id="32" name="Text 30"/>
          <p:cNvSpPr/>
          <p:nvPr/>
        </p:nvSpPr>
        <p:spPr>
          <a:xfrm>
            <a:off x="3840480" y="457200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Warehouses Supported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58000" y="4279392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3B82F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3200" dirty="0"/>
          </a:p>
        </p:txBody>
      </p:sp>
      <p:sp>
        <p:nvSpPr>
          <p:cNvPr id="34" name="Text 32"/>
          <p:cNvSpPr/>
          <p:nvPr/>
        </p:nvSpPr>
        <p:spPr>
          <a:xfrm>
            <a:off x="6583680" y="457200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SQL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57200" y="1371600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3200400" y="2377440"/>
            <a:ext cx="2743200" cy="3657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5420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DataPilot — Ask anything. Get answers. No SQL required.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3246120"/>
            <a:ext cx="2834640" cy="640080"/>
          </a:xfrm>
          <a:prstGeom prst="rect">
            <a:avLst/>
          </a:prstGeom>
          <a:solidFill>
            <a:srgbClr val="1E2D4F"/>
          </a:solidFill>
          <a:ln w="12700">
            <a:solidFill>
              <a:srgbClr val="3B82F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3291840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3511296"/>
            <a:ext cx="26517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Pankhuri Trikha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3246120"/>
            <a:ext cx="2834640" cy="640080"/>
          </a:xfrm>
          <a:prstGeom prst="rect">
            <a:avLst/>
          </a:prstGeom>
          <a:solidFill>
            <a:srgbClr val="1E2D4F"/>
          </a:solidFill>
          <a:ln w="12700">
            <a:solidFill>
              <a:srgbClr val="8B5CF6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37560" y="3291840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37560" y="3511296"/>
            <a:ext cx="26517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DataGrokr Agentic AI Hackathon 2026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3246120"/>
            <a:ext cx="2834640" cy="640080"/>
          </a:xfrm>
          <a:prstGeom prst="rect">
            <a:avLst/>
          </a:prstGeom>
          <a:solidFill>
            <a:srgbClr val="1E2D4F"/>
          </a:solidFill>
          <a:ln w="12700">
            <a:solidFill>
              <a:srgbClr val="06B6D4"/>
            </a:solidFill>
            <a:prstDash val="solid"/>
          </a:ln>
          <a:effectLst>
            <a:outerShdw blurRad="1016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09360" y="3291840"/>
            <a:ext cx="2651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09360" y="3511296"/>
            <a:ext cx="26517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3, 2026 · Session 1 · 11:45 AM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655</Words>
  <Application>Microsoft Office PowerPoint</Application>
  <PresentationFormat>On-screen Show (16:9)</PresentationFormat>
  <Paragraphs>131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DataPilot — Hackathon 2026</dc:title>
  <dc:subject>PptxGenJS Presentation</dc:subject>
  <dc:creator>Pankhuri Trikha</dc:creator>
  <cp:lastModifiedBy>Pankhuri Trikha</cp:lastModifiedBy>
  <cp:revision>1</cp:revision>
  <dcterms:created xsi:type="dcterms:W3CDTF">2026-04-01T12:58:26Z</dcterms:created>
  <dcterms:modified xsi:type="dcterms:W3CDTF">2026-04-01T17:56:31Z</dcterms:modified>
</cp:coreProperties>
</file>